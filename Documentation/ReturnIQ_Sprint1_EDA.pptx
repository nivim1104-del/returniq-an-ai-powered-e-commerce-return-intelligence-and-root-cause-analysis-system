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3879923-c547-4985-a69e-1912d56e2aa8}">
          <p14:sldIdLst>
            <p14:sldId id="256"/>
            <p14:sldId id="257"/>
            <p14:sldId id="258"/>
            <p14:sldId id="259"/>
            <p14:sldId id="260"/>
          </p14:sldIdLst>
        </p14:section>
        <p14:section name="Data" id="{799c0a63-d315-ac58-74cf-99ce74a612cc}">
          <p14:sldIdLst>
            <p14:sldId id="261"/>
            <p14:sldId id="262"/>
            <p14:sldId id="263"/>
          </p14:sldIdLst>
        </p14:section>
        <p14:section name="Analysis" id="{d5081c70-4a30-9c01-4607-81a2d25859a6}">
          <p14:sldIdLst>
            <p14:sldId id="264"/>
            <p14:sldId id="265"/>
          </p14:sldIdLst>
        </p14:section>
        <p14:section name="Wrap-up" id="{679852b1-b710-8eb6-0c52-d1aacfc41241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8016" cy="7315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86460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accent5"/>
                </a:solidFill>
              </a:rPr>
              <a:t>ReturnIQ  |  Sprint-1 (EDA)  |  Nivetha M  |  ANP-D7444</a:t>
            </a:r>
            <a:endParaRPr lang="en-US" sz="800" dirty="0"/>
          </a:p>
        </p:txBody>
      </p:sp>
      <p:sp>
        <p:nvSpPr>
          <p:cNvPr id="7" name="Text 5"/>
          <p:cNvSpPr/>
          <p:nvPr>
            <p:ph idx="105" type="title" hasCustomPrompt="1"/>
          </p:nvPr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097280"/>
            <a:ext cx="4572000" cy="457200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377440"/>
            <a:ext cx="3291840" cy="3291840"/>
          </a:xfrm>
          <a:prstGeom prst="ellipse">
            <a:avLst/>
          </a:prstGeom>
          <a:solidFill>
            <a:schemeClr val="accent2">
              <a:alpha val="18000"/>
            </a:schemeClr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237744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5029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SPRINT-1  |  EDA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5156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ReturnIQ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6"/>
                </a:solidFill>
              </a:rPr>
              <a:t>AI-Powered E-Commerce Return Intelligence and Root-Cause Analysis System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097280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971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INDUSTRY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54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E-Commerce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971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STUDENT NAME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154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Nivetha M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5387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STUDENT ID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721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AF05313369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35387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COURSE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3721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AIML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10565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BATCH CODE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2885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ANP-D7444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410565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ORGANIZATION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566160" y="42885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Anudip Foundation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Industry Overview</a:t>
            </a:r>
            <a:endParaRPr lang="en-US" sz="2400" dirty="0"/>
          </a:p>
        </p:txBody>
      </p:sp>
      <p:sp>
        <p:nvSpPr>
          <p:cNvPr id="3" name="IntroCard"/>
          <p:cNvSpPr/>
          <p:nvPr/>
        </p:nvSpPr>
        <p:spPr>
          <a:xfrm>
            <a:off x="365760" y="960120"/>
            <a:ext cx="4114800" cy="2331720"/>
          </a:xfrm>
          <a:prstGeom prst="roundRect">
            <a:avLst>
              <a:gd name="adj" fmla="val 2353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SELECTED INDUSTRY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984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E-Commerce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E-commerce is the buying and selling of goods online. Each order passes through many stages: product listing, seller fulfilment, payment, shipping, delivery and customer feedback. Customers can raise complaints or request returns at any of these stages.</a:t>
            </a:r>
            <a:endParaRPr lang="en-US" sz="1250" dirty="0"/>
          </a:p>
        </p:txBody>
      </p:sp>
      <p:sp>
        <p:nvSpPr>
          <p:cNvPr id="7" name="WhyCard"/>
          <p:cNvSpPr/>
          <p:nvPr/>
        </p:nvSpPr>
        <p:spPr>
          <a:xfrm>
            <a:off x="4663440" y="960120"/>
            <a:ext cx="4114800" cy="2331720"/>
          </a:xfrm>
          <a:prstGeom prst="roundRect">
            <a:avLst>
              <a:gd name="adj" fmla="val 2353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0972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Why data analysis matters here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463040"/>
            <a:ext cx="3749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Reveals where delivery delays and failures happen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Links customer reviews to the logistics experience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Helps compare products, categories and sellers fairly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Turns raw complaints into evidence for root-cause work</a:t>
            </a:r>
            <a:endParaRPr lang="en-US" sz="1300" dirty="0"/>
          </a:p>
        </p:txBody>
      </p:sp>
      <p:sp>
        <p:nvSpPr>
          <p:cNvPr id="10" name="Stat0"/>
          <p:cNvSpPr/>
          <p:nvPr/>
        </p:nvSpPr>
        <p:spPr>
          <a:xfrm>
            <a:off x="365760" y="3520440"/>
            <a:ext cx="2002536" cy="10972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" y="3639312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99,441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4160520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orders analysed</a:t>
            </a:r>
            <a:endParaRPr lang="en-US" sz="1100" dirty="0"/>
          </a:p>
        </p:txBody>
      </p:sp>
      <p:sp>
        <p:nvSpPr>
          <p:cNvPr id="13" name="Stat1"/>
          <p:cNvSpPr/>
          <p:nvPr/>
        </p:nvSpPr>
        <p:spPr>
          <a:xfrm>
            <a:off x="2496312" y="3520440"/>
            <a:ext cx="2002536" cy="10972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96312" y="3639312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112,650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2496312" y="4160520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order items</a:t>
            </a:r>
            <a:endParaRPr lang="en-US" sz="1100" dirty="0"/>
          </a:p>
        </p:txBody>
      </p:sp>
      <p:sp>
        <p:nvSpPr>
          <p:cNvPr id="16" name="Stat2"/>
          <p:cNvSpPr/>
          <p:nvPr/>
        </p:nvSpPr>
        <p:spPr>
          <a:xfrm>
            <a:off x="4626864" y="3520440"/>
            <a:ext cx="2002536" cy="10972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26864" y="3639312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3,095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4626864" y="4160520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sellers</a:t>
            </a:r>
            <a:endParaRPr lang="en-US" sz="1100" dirty="0"/>
          </a:p>
        </p:txBody>
      </p:sp>
      <p:sp>
        <p:nvSpPr>
          <p:cNvPr id="19" name="Stat3"/>
          <p:cNvSpPr/>
          <p:nvPr/>
        </p:nvSpPr>
        <p:spPr>
          <a:xfrm>
            <a:off x="6757416" y="3520440"/>
            <a:ext cx="2002536" cy="10972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57416" y="3639312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397,333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757416" y="4160520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NCH grievances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Problem Statement</a:t>
            </a:r>
            <a:endParaRPr lang="en-US" sz="2400" dirty="0"/>
          </a:p>
        </p:txBody>
      </p:sp>
      <p:sp>
        <p:nvSpPr>
          <p:cNvPr id="3" name="ProbCard0"/>
          <p:cNvSpPr/>
          <p:nvPr/>
        </p:nvSpPr>
        <p:spPr>
          <a:xfrm>
            <a:off x="365760" y="960120"/>
            <a:ext cx="2697480" cy="3154680"/>
          </a:xfrm>
          <a:prstGeom prst="roundRect">
            <a:avLst>
              <a:gd name="adj" fmla="val 2034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697480" cy="6400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The problem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23591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Customers face wrong, defective, damaged or missing products, delivery delays, non-delivery and refund or replacement problems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Causes can sit in the product, seller, fulfilment, delivery or claim stage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Return systems process requests but do not explain why problems occur</a:t>
            </a:r>
            <a:endParaRPr lang="en-US" sz="1200" dirty="0"/>
          </a:p>
        </p:txBody>
      </p:sp>
      <p:sp>
        <p:nvSpPr>
          <p:cNvPr id="7" name="ProbCard1"/>
          <p:cNvSpPr/>
          <p:nvPr/>
        </p:nvSpPr>
        <p:spPr>
          <a:xfrm>
            <a:off x="3200400" y="960120"/>
            <a:ext cx="2697480" cy="3154680"/>
          </a:xfrm>
          <a:prstGeom prst="roundRect">
            <a:avLst>
              <a:gd name="adj" fmla="val 2034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960120"/>
            <a:ext cx="2697480" cy="6400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143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Why it matters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508760"/>
            <a:ext cx="23591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Repeated returns and complaints raise costs and hurt customer trust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Low review scores damage seller and platform reputation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Without root-cause insight, the same issues keep recurring</a:t>
            </a:r>
            <a:endParaRPr lang="en-US" sz="1200" dirty="0"/>
          </a:p>
        </p:txBody>
      </p:sp>
      <p:sp>
        <p:nvSpPr>
          <p:cNvPr id="11" name="ProbCard2"/>
          <p:cNvSpPr/>
          <p:nvPr/>
        </p:nvSpPr>
        <p:spPr>
          <a:xfrm>
            <a:off x="6035040" y="960120"/>
            <a:ext cx="2697480" cy="3154680"/>
          </a:xfrm>
          <a:prstGeom prst="roundRect">
            <a:avLst>
              <a:gd name="adj" fmla="val 2034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960120"/>
            <a:ext cx="2697480" cy="6400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143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Who is affected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508760"/>
            <a:ext cx="23591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Customers: poor experience, delays, refund disputes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Sellers: returns, bad ratings, lost sales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Logistics partners: delivery performance under scrutiny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Platform and business teams: investigation workload and cost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279392"/>
            <a:ext cx="8412480" cy="4572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2793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NCH data: 212,120 of 397,333 grievances (53.39%) fall in return-related categories such as wrong, defective, non-delivered or missing products.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Project Objectives</a:t>
            </a:r>
            <a:endParaRPr lang="en-US" sz="2400" dirty="0"/>
          </a:p>
        </p:txBody>
      </p:sp>
      <p:sp>
        <p:nvSpPr>
          <p:cNvPr id="3" name="Obj0"/>
          <p:cNvSpPr/>
          <p:nvPr/>
        </p:nvSpPr>
        <p:spPr>
          <a:xfrm>
            <a:off x="365760" y="960120"/>
            <a:ext cx="8412480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88136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088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03327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Understand the data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2984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Load, inspect and integrate the Olist, Online Retail II and NCH datasets into an analysis-ready form.</a:t>
            </a:r>
            <a:endParaRPr lang="en-US" sz="1100" dirty="0"/>
          </a:p>
        </p:txBody>
      </p:sp>
      <p:sp>
        <p:nvSpPr>
          <p:cNvPr id="8" name="Obj1"/>
          <p:cNvSpPr/>
          <p:nvPr/>
        </p:nvSpPr>
        <p:spPr>
          <a:xfrm>
            <a:off x="365760" y="1719072"/>
            <a:ext cx="8412480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4708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179222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Clean and engineer features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0574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Fix quality issues and create delivery, logistics, freight and order features for later modelling.</a:t>
            </a:r>
            <a:endParaRPr lang="en-US" sz="1100" dirty="0"/>
          </a:p>
        </p:txBody>
      </p:sp>
      <p:sp>
        <p:nvSpPr>
          <p:cNvPr id="13" name="Obj2"/>
          <p:cNvSpPr/>
          <p:nvPr/>
        </p:nvSpPr>
        <p:spPr>
          <a:xfrm>
            <a:off x="365760" y="2478024"/>
            <a:ext cx="8412480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606040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55117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Analyse delivery and customer experience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8163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Measure delays, review scores and their relationship across categories, sellers, distance and transit speed.</a:t>
            </a:r>
            <a:endParaRPr lang="en-US" sz="1100" dirty="0"/>
          </a:p>
        </p:txBody>
      </p:sp>
      <p:sp>
        <p:nvSpPr>
          <p:cNvPr id="18" name="Obj3"/>
          <p:cNvSpPr/>
          <p:nvPr/>
        </p:nvSpPr>
        <p:spPr>
          <a:xfrm>
            <a:off x="365760" y="3236976"/>
            <a:ext cx="8412480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36499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31012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Identify complaint and return signals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57530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Study NCH complaint categories and Online Retail II negative quantities as return or cancellation signals.</a:t>
            </a:r>
            <a:endParaRPr lang="en-US" sz="1100" dirty="0"/>
          </a:p>
        </p:txBody>
      </p:sp>
      <p:sp>
        <p:nvSpPr>
          <p:cNvPr id="23" name="Obj4"/>
          <p:cNvSpPr/>
          <p:nvPr/>
        </p:nvSpPr>
        <p:spPr>
          <a:xfrm>
            <a:off x="365760" y="3995928"/>
            <a:ext cx="8412480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4123944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2920" y="4123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0690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Prepare for the ML stage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33425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Document patterns and recommendations, without treating correlations as proof of causation.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Proposed Solution &amp; Analysis Questions</a:t>
            </a:r>
            <a:endParaRPr lang="en-US" sz="2400" dirty="0"/>
          </a:p>
        </p:txBody>
      </p:sp>
      <p:sp>
        <p:nvSpPr>
          <p:cNvPr id="3" name="SolCard"/>
          <p:cNvSpPr/>
          <p:nvPr/>
        </p:nvSpPr>
        <p:spPr>
          <a:xfrm>
            <a:off x="365760" y="960120"/>
            <a:ext cx="3931920" cy="27432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7899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Proposed solution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ReturnIQ is an AI-powered system that analyses order, product, seller, delivery, payment, review and complaint data to find likely root causes of returns and complaints, and shows them on an admin dashboard. Sprint-1 covers the EDA that comes first.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How Python helps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03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Pandas merges and aggregates tables, NumPy computes distances, and Matplotlib shows the patterns.</a:t>
            </a:r>
            <a:endParaRPr lang="en-US" sz="1150" dirty="0"/>
          </a:p>
        </p:txBody>
      </p:sp>
      <p:sp>
        <p:nvSpPr>
          <p:cNvPr id="8" name="ToolsCard"/>
          <p:cNvSpPr/>
          <p:nvPr/>
        </p:nvSpPr>
        <p:spPr>
          <a:xfrm>
            <a:off x="365760" y="3840480"/>
            <a:ext cx="3931920" cy="82296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840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Tools: Python  |  Jupyter Notebook  |  NumPy  |  Pandas  |  Matplotlib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9144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Analysis questions</a:t>
            </a:r>
            <a:endParaRPr lang="en-US" sz="1100" dirty="0"/>
          </a:p>
        </p:txBody>
      </p:sp>
      <p:sp>
        <p:nvSpPr>
          <p:cNvPr id="11" name="Q0"/>
          <p:cNvSpPr/>
          <p:nvPr/>
        </p:nvSpPr>
        <p:spPr>
          <a:xfrm>
            <a:off x="4526280" y="1188720"/>
            <a:ext cx="4251960" cy="521208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1188720"/>
            <a:ext cx="411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Q1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1188720"/>
            <a:ext cx="3611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How are orders spread across statuses, and how many deliveries are late?</a:t>
            </a:r>
            <a:endParaRPr lang="en-US" sz="1100" dirty="0"/>
          </a:p>
        </p:txBody>
      </p:sp>
      <p:sp>
        <p:nvSpPr>
          <p:cNvPr id="14" name="Q1"/>
          <p:cNvSpPr/>
          <p:nvPr/>
        </p:nvSpPr>
        <p:spPr>
          <a:xfrm>
            <a:off x="4526280" y="1773936"/>
            <a:ext cx="4251960" cy="521208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17720" y="1773936"/>
            <a:ext cx="411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Q2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074920" y="1773936"/>
            <a:ext cx="3611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Do late deliveries go with lower review scores?</a:t>
            </a:r>
            <a:endParaRPr lang="en-US" sz="1100" dirty="0"/>
          </a:p>
        </p:txBody>
      </p:sp>
      <p:sp>
        <p:nvSpPr>
          <p:cNvPr id="17" name="Q2"/>
          <p:cNvSpPr/>
          <p:nvPr/>
        </p:nvSpPr>
        <p:spPr>
          <a:xfrm>
            <a:off x="4526280" y="2359152"/>
            <a:ext cx="4251960" cy="521208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17720" y="2359152"/>
            <a:ext cx="411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Q3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74920" y="2359152"/>
            <a:ext cx="3611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Which categories and sellers show higher delay or lower reviews?</a:t>
            </a:r>
            <a:endParaRPr lang="en-US" sz="1100" dirty="0"/>
          </a:p>
        </p:txBody>
      </p:sp>
      <p:sp>
        <p:nvSpPr>
          <p:cNvPr id="20" name="Q3"/>
          <p:cNvSpPr/>
          <p:nvPr/>
        </p:nvSpPr>
        <p:spPr>
          <a:xfrm>
            <a:off x="4526280" y="2944368"/>
            <a:ext cx="4251960" cy="521208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17720" y="2944368"/>
            <a:ext cx="411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Q4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074920" y="2944368"/>
            <a:ext cx="3611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Do seller-customer distance and transit speed relate to delays?</a:t>
            </a:r>
            <a:endParaRPr lang="en-US" sz="1100" dirty="0"/>
          </a:p>
        </p:txBody>
      </p:sp>
      <p:sp>
        <p:nvSpPr>
          <p:cNvPr id="23" name="Q4"/>
          <p:cNvSpPr/>
          <p:nvPr/>
        </p:nvSpPr>
        <p:spPr>
          <a:xfrm>
            <a:off x="4526280" y="3529584"/>
            <a:ext cx="4251960" cy="521208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17720" y="3529584"/>
            <a:ext cx="411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Q5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074920" y="3529584"/>
            <a:ext cx="3611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How do price, freight and multi-item orders behave?</a:t>
            </a:r>
            <a:endParaRPr lang="en-US" sz="1100" dirty="0"/>
          </a:p>
        </p:txBody>
      </p:sp>
      <p:sp>
        <p:nvSpPr>
          <p:cNvPr id="26" name="Q5"/>
          <p:cNvSpPr/>
          <p:nvPr/>
        </p:nvSpPr>
        <p:spPr>
          <a:xfrm>
            <a:off x="4526280" y="4114800"/>
            <a:ext cx="4251960" cy="521208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17720" y="4114800"/>
            <a:ext cx="411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Q6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074920" y="4114800"/>
            <a:ext cx="3611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Which NCH complaint categories and retail return signals are most common?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Dataset Information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9611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Olist Brazilian E-Commerce Public Dataset  |  Source: Kaggle  |  Format: CSV  |  9 tables</a:t>
            </a:r>
            <a:endParaRPr lang="en-US" sz="1050" dirty="0"/>
          </a:p>
        </p:txBody>
      </p:sp>
      <p:graphicFrame>
        <p:nvGraphicFramePr>
          <p:cNvPr id="7" name="Olist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31520"/>
                <a:gridCol w="411480"/>
                <a:gridCol w="342900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Table</a:t>
                      </a:r>
                      <a:endParaRPr lang="en-US" sz="9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Rows</a:t>
                      </a:r>
                      <a:endParaRPr lang="en-US" sz="9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Cols</a:t>
                      </a:r>
                      <a:endParaRPr lang="en-US" sz="9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Important columns</a:t>
                      </a:r>
                      <a:endParaRPr lang="en-US" sz="9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</a:rPr>
                        <a:t>Customers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99,441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customer_id, unique_id, zip, city, state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</a:rPr>
                        <a:t>Geolocation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1,000,163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zip prefix, latitude, longitude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</a:rPr>
                        <a:t>Order Items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112,650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order_id, product_id, seller_id, price, freight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</a:rPr>
                        <a:t>Payments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103,886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payment type, installments, value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</a:rPr>
                        <a:t>Reviews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99,224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review_score, comment, dates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</a:rPr>
                        <a:t>Orders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99,441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order_status, purchase / delivered / estimated dates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</a:rPr>
                        <a:t>Products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32,951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category, weight, dimensions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</a:rPr>
                        <a:t>Sellers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3,095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seller_id, zip, city, state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</a:rPr>
                        <a:t>Translation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71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category name (PT to EN)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Side0"/>
          <p:cNvSpPr/>
          <p:nvPr/>
        </p:nvSpPr>
        <p:spPr>
          <a:xfrm>
            <a:off x="6035040" y="960120"/>
            <a:ext cx="2743200" cy="1170432"/>
          </a:xfrm>
          <a:prstGeom prst="roundRect">
            <a:avLst>
              <a:gd name="adj" fmla="val 4688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72200" y="102412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Online Retail II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172200" y="124358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chemeClr val="accent1"/>
                </a:solidFill>
              </a:rPr>
              <a:t>UCI ML Repository  |  XLSX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6172200" y="14173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525,461 rows x 8 cols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172200" y="1600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Invoice, StockCode, Description, Quantity, InvoiceDate, Price, Customer ID, Country. Negative quantities flag possible returns.</a:t>
            </a:r>
            <a:endParaRPr lang="en-US" sz="850" dirty="0"/>
          </a:p>
        </p:txBody>
      </p:sp>
      <p:sp>
        <p:nvSpPr>
          <p:cNvPr id="10" name="Side1"/>
          <p:cNvSpPr/>
          <p:nvPr/>
        </p:nvSpPr>
        <p:spPr>
          <a:xfrm>
            <a:off x="6035040" y="2221992"/>
            <a:ext cx="2743200" cy="1170432"/>
          </a:xfrm>
          <a:prstGeom prst="roundRect">
            <a:avLst>
              <a:gd name="adj" fmla="val 4688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22860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NCH Complaints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250545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chemeClr val="accent1"/>
                </a:solidFill>
              </a:rPr>
              <a:t>National Consumer Helpline  |  CSV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6172200" y="26791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12 rows x 3 cols (11 after cleaning)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286207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Complaint category and grievance count. Aggregate data, not individual records.</a:t>
            </a:r>
            <a:endParaRPr lang="en-US" sz="850" dirty="0"/>
          </a:p>
        </p:txBody>
      </p:sp>
      <p:sp>
        <p:nvSpPr>
          <p:cNvPr id="15" name="Side2"/>
          <p:cNvSpPr/>
          <p:nvPr/>
        </p:nvSpPr>
        <p:spPr>
          <a:xfrm>
            <a:off x="6035040" y="3483864"/>
            <a:ext cx="2743200" cy="1170432"/>
          </a:xfrm>
          <a:prstGeom prst="roundRect">
            <a:avLst>
              <a:gd name="adj" fmla="val 4688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172200" y="35478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Integrated Olist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376732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chemeClr val="accent1"/>
                </a:solidFill>
              </a:rPr>
              <a:t>Built in Notebook 02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6172200" y="394106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112,650 rows x 71 cols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6172200" y="412394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One row per order item with delivery, logistics and review features.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365760" y="4297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All sources are public datasets. Total Olist order items: 112,650.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Data Collection &amp; Understanding</a:t>
            </a:r>
            <a:endParaRPr lang="en-US" sz="2400" dirty="0"/>
          </a:p>
        </p:txBody>
      </p:sp>
      <p:sp>
        <p:nvSpPr>
          <p:cNvPr id="3" name="UnderstandCard"/>
          <p:cNvSpPr/>
          <p:nvPr/>
        </p:nvSpPr>
        <p:spPr>
          <a:xfrm>
            <a:off x="365760" y="960120"/>
            <a:ext cx="3246120" cy="3749040"/>
          </a:xfrm>
          <a:prstGeom prst="roundRect">
            <a:avLst>
              <a:gd name="adj" fmla="val 1690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0515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Collection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Public datasets loaded with Pandas in 01_Data_Loading.ipynb: 9 Olist tables, Online Retail II and the NCH file.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0116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Data types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2585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Olist date columns load as text and are converted to datetime. Online Retail II: Quantity int64, Price float64, InvoiceDate datetime64.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0175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Missing values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26440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Reviews: title 87,656, message 58,247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Orders: approved 160, carrier 1,783, customer 2,965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Products: category 610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Online Retail II: Description 2,928, Customer ID 107,927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1879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Duplicates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4165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Geolocation 261,831; Online Retail II 6,865; all other tables 0.</a:t>
            </a:r>
            <a:endParaRPr lang="en-US" sz="900" dirty="0"/>
          </a:p>
        </p:txBody>
      </p:sp>
      <p:pic>
        <p:nvPicPr>
          <p:cNvPr id="12" name="MissingShot" descr="Notebook output of missing value counts per ta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960120"/>
            <a:ext cx="2240981" cy="349300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3794760" y="4471416"/>
            <a:ext cx="22409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accent5"/>
                </a:solidFill>
              </a:rPr>
              <a:t>df.isnull().sum()</a:t>
            </a:r>
            <a:endParaRPr lang="en-US" sz="800" dirty="0"/>
          </a:p>
        </p:txBody>
      </p:sp>
      <p:pic>
        <p:nvPicPr>
          <p:cNvPr id="14" name="DupShot" descr="Notebook output of duplicate row counts per tab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781" y="960120"/>
            <a:ext cx="2743200" cy="33652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355781" y="4343613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accent5"/>
                </a:solidFill>
              </a:rPr>
              <a:t>df.duplicated().sum()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Data Cleaning &amp; Transformation</a:t>
            </a:r>
            <a:endParaRPr lang="en-US" sz="2400" dirty="0"/>
          </a:p>
        </p:txBody>
      </p:sp>
      <p:sp>
        <p:nvSpPr>
          <p:cNvPr id="3" name="Step0"/>
          <p:cNvSpPr/>
          <p:nvPr/>
        </p:nvSpPr>
        <p:spPr>
          <a:xfrm>
            <a:off x="365760" y="960120"/>
            <a:ext cx="2606040" cy="1170432"/>
          </a:xfrm>
          <a:prstGeom prst="roundRect">
            <a:avLst>
              <a:gd name="adj" fmla="val 4688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64008" cy="117043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241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Duplicates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61872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Dropped 261,831 exact duplicate Geolocation rows and 6,865 Online Retail II rows.</a:t>
            </a:r>
            <a:endParaRPr lang="en-US" sz="950" dirty="0"/>
          </a:p>
        </p:txBody>
      </p:sp>
      <p:sp>
        <p:nvSpPr>
          <p:cNvPr id="7" name="Step1"/>
          <p:cNvSpPr/>
          <p:nvPr/>
        </p:nvSpPr>
        <p:spPr>
          <a:xfrm>
            <a:off x="3063240" y="960120"/>
            <a:ext cx="2606040" cy="1170432"/>
          </a:xfrm>
          <a:prstGeom prst="roundRect">
            <a:avLst>
              <a:gd name="adj" fmla="val 4688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960120"/>
            <a:ext cx="64008" cy="117043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46120" y="10241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Data types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1261872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Converted 5 order and 2 review date columns with pd.to_datetime; checked review scores are 1-5.</a:t>
            </a:r>
            <a:endParaRPr lang="en-US" sz="950" dirty="0"/>
          </a:p>
        </p:txBody>
      </p:sp>
      <p:sp>
        <p:nvSpPr>
          <p:cNvPr id="11" name="Step2"/>
          <p:cNvSpPr/>
          <p:nvPr/>
        </p:nvSpPr>
        <p:spPr>
          <a:xfrm>
            <a:off x="365760" y="2221992"/>
            <a:ext cx="2606040" cy="1170432"/>
          </a:xfrm>
          <a:prstGeom prst="roundRect">
            <a:avLst>
              <a:gd name="adj" fmla="val 4688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221992"/>
            <a:ext cx="64008" cy="117043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2860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Invalid values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523744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166 carrier dates before purchase set to NaT; 3,681 zero-price and 3 negative-price retail rows removed; NCH Grand Total row removed.</a:t>
            </a:r>
            <a:endParaRPr lang="en-US" sz="950" dirty="0"/>
          </a:p>
        </p:txBody>
      </p:sp>
      <p:sp>
        <p:nvSpPr>
          <p:cNvPr id="15" name="Step3"/>
          <p:cNvSpPr/>
          <p:nvPr/>
        </p:nvSpPr>
        <p:spPr>
          <a:xfrm>
            <a:off x="3063240" y="2221992"/>
            <a:ext cx="2606040" cy="1170432"/>
          </a:xfrm>
          <a:prstGeom prst="roundRect">
            <a:avLst>
              <a:gd name="adj" fmla="val 4688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63240" y="2221992"/>
            <a:ext cx="64008" cy="117043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46120" y="22860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Missing values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246120" y="2523744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610 missing categories set to Unknown; size and weight filled with median; no-payment orders set to 0; meaningful gaps kept with availability flags.</a:t>
            </a:r>
            <a:endParaRPr lang="en-US" sz="950" dirty="0"/>
          </a:p>
        </p:txBody>
      </p:sp>
      <p:sp>
        <p:nvSpPr>
          <p:cNvPr id="19" name="Step4"/>
          <p:cNvSpPr/>
          <p:nvPr/>
        </p:nvSpPr>
        <p:spPr>
          <a:xfrm>
            <a:off x="365760" y="3483864"/>
            <a:ext cx="2606040" cy="1170432"/>
          </a:xfrm>
          <a:prstGeom prst="roundRect">
            <a:avLst>
              <a:gd name="adj" fmla="val 4688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483864"/>
            <a:ext cx="64008" cy="117043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5478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Integration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785616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Left-joined products, sellers, orders, customers, aggregated payments and reviews, and geolocation: 112,650 rows x 71 columns.</a:t>
            </a:r>
            <a:endParaRPr lang="en-US" sz="950" dirty="0"/>
          </a:p>
        </p:txBody>
      </p:sp>
      <p:sp>
        <p:nvSpPr>
          <p:cNvPr id="23" name="Step5"/>
          <p:cNvSpPr/>
          <p:nvPr/>
        </p:nvSpPr>
        <p:spPr>
          <a:xfrm>
            <a:off x="3063240" y="3483864"/>
            <a:ext cx="2606040" cy="1170432"/>
          </a:xfrm>
          <a:prstGeom prst="roundRect">
            <a:avLst>
              <a:gd name="adj" fmla="val 4688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63240" y="3483864"/>
            <a:ext cx="64008" cy="117043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246120" y="35478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New features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246120" y="3785616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delivery_days, delay days, is_delayed, transit_days and speed, distance_km (Haversine), freight ratio, order_item_count, order_total_value.</a:t>
            </a:r>
            <a:endParaRPr lang="en-US" sz="950" dirty="0"/>
          </a:p>
        </p:txBody>
      </p:sp>
      <p:sp>
        <p:nvSpPr>
          <p:cNvPr id="27" name="Out1"/>
          <p:cNvSpPr/>
          <p:nvPr/>
        </p:nvSpPr>
        <p:spPr>
          <a:xfrm>
            <a:off x="5852160" y="960120"/>
            <a:ext cx="2926080" cy="1097280"/>
          </a:xfrm>
          <a:prstGeom prst="roundRect">
            <a:avLst>
              <a:gd name="adj" fmla="val 41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61888" y="1024128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chemeClr val="accent2"/>
                </a:solidFill>
              </a:rPr>
              <a:t>NOTEBOOK OUTPUT  |  Geolocation duplicates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5961888" y="1234440"/>
            <a:ext cx="2706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 rows: 1000163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Cleaned rows: 738332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 removed: 261831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Duplicates remaining: 0</a:t>
            </a:r>
            <a:endParaRPr lang="en-US" sz="800" dirty="0"/>
          </a:p>
        </p:txBody>
      </p:sp>
      <p:sp>
        <p:nvSpPr>
          <p:cNvPr id="30" name="Out2"/>
          <p:cNvSpPr/>
          <p:nvPr/>
        </p:nvSpPr>
        <p:spPr>
          <a:xfrm>
            <a:off x="5852160" y="2148840"/>
            <a:ext cx="2926080" cy="1280160"/>
          </a:xfrm>
          <a:prstGeom prst="roundRect">
            <a:avLst>
              <a:gd name="adj" fmla="val 3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61888" y="2212848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chemeClr val="accent2"/>
                </a:solidFill>
              </a:rPr>
              <a:t>NOTEBOOK OUTPUT  |  Invalid dates and durations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5961888" y="2423160"/>
            <a:ext cx="27066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 carrier dates fixed: 166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 shipping prep durations: 1364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 transit durations: 50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Negative durations remaining: 0</a:t>
            </a:r>
            <a:endParaRPr lang="en-US" sz="800" dirty="0"/>
          </a:p>
        </p:txBody>
      </p:sp>
      <p:sp>
        <p:nvSpPr>
          <p:cNvPr id="33" name="Out3"/>
          <p:cNvSpPr/>
          <p:nvPr/>
        </p:nvSpPr>
        <p:spPr>
          <a:xfrm>
            <a:off x="5852160" y="3520440"/>
            <a:ext cx="2926080" cy="1188720"/>
          </a:xfrm>
          <a:prstGeom prst="roundRect">
            <a:avLst>
              <a:gd name="adj" fmla="val 384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961888" y="3584448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chemeClr val="accent2"/>
                </a:solidFill>
              </a:rPr>
              <a:t>NOTEBOOK OUTPUT  |  Final integrated data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5961888" y="3794760"/>
            <a:ext cx="27066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shape: (112650, 71)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Duplicate rows: 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Online Retail II: (514912, 8)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 / negative price: 0 / 0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Exploratory Data Analysis</a:t>
            </a:r>
            <a:endParaRPr lang="en-US" sz="2400" dirty="0"/>
          </a:p>
        </p:txBody>
      </p:sp>
      <p:sp>
        <p:nvSpPr>
          <p:cNvPr id="3" name="Kpi0"/>
          <p:cNvSpPr/>
          <p:nvPr/>
        </p:nvSpPr>
        <p:spPr>
          <a:xfrm>
            <a:off x="365760" y="914400"/>
            <a:ext cx="2002536" cy="749808"/>
          </a:xfrm>
          <a:prstGeom prst="roundRect">
            <a:avLst>
              <a:gd name="adj" fmla="val 7317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969264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97.82%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38912" y="137160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items delivered</a:t>
            </a:r>
            <a:endParaRPr lang="en-US" sz="900" dirty="0"/>
          </a:p>
        </p:txBody>
      </p:sp>
      <p:sp>
        <p:nvSpPr>
          <p:cNvPr id="6" name="Kpi1"/>
          <p:cNvSpPr/>
          <p:nvPr/>
        </p:nvSpPr>
        <p:spPr>
          <a:xfrm>
            <a:off x="2496312" y="914400"/>
            <a:ext cx="2002536" cy="749808"/>
          </a:xfrm>
          <a:prstGeom prst="roundRect">
            <a:avLst>
              <a:gd name="adj" fmla="val 7317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96312" y="969264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6.59%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569464" y="137160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delivered items delayed (7,265)</a:t>
            </a:r>
            <a:endParaRPr lang="en-US" sz="900" dirty="0"/>
          </a:p>
        </p:txBody>
      </p:sp>
      <p:sp>
        <p:nvSpPr>
          <p:cNvPr id="9" name="Kpi2"/>
          <p:cNvSpPr/>
          <p:nvPr/>
        </p:nvSpPr>
        <p:spPr>
          <a:xfrm>
            <a:off x="4626864" y="914400"/>
            <a:ext cx="2002536" cy="749808"/>
          </a:xfrm>
          <a:prstGeom prst="roundRect">
            <a:avLst>
              <a:gd name="adj" fmla="val 7317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26864" y="969264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10.49 days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700016" y="137160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average delay when late</a:t>
            </a:r>
            <a:endParaRPr lang="en-US" sz="900" dirty="0"/>
          </a:p>
        </p:txBody>
      </p:sp>
      <p:sp>
        <p:nvSpPr>
          <p:cNvPr id="12" name="Kpi3"/>
          <p:cNvSpPr/>
          <p:nvPr/>
        </p:nvSpPr>
        <p:spPr>
          <a:xfrm>
            <a:off x="6757416" y="914400"/>
            <a:ext cx="2002536" cy="749808"/>
          </a:xfrm>
          <a:prstGeom prst="roundRect">
            <a:avLst>
              <a:gd name="adj" fmla="val 7317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57416" y="969264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16.82%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830568" y="137160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items with freight ratio &gt;= 0.50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178308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Review group vs delay</a:t>
            </a:r>
            <a:endParaRPr lang="en-US" sz="1000" dirty="0"/>
          </a:p>
        </p:txBody>
      </p:sp>
      <p:graphicFrame>
        <p:nvGraphicFramePr>
          <p:cNvPr id="10" name="Review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011680"/>
          <a:ext cx="2697480" cy="914400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</a:rPr>
                        <a:t>Group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</a:rPr>
                        <a:t>Items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</a:rPr>
                        <a:t>Delayed %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Low (1-2)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17,930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4"/>
                          </a:solidFill>
                        </a:rPr>
                        <a:t>24.84%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Average (3)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9,429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7.98%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Good (4)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21,198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3.34%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Excellent (5)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63,151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1.85%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3246120" y="178308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Transit speed vs delay</a:t>
            </a:r>
            <a:endParaRPr lang="en-US" sz="1000" dirty="0"/>
          </a:p>
        </p:txBody>
      </p:sp>
      <p:graphicFrame>
        <p:nvGraphicFramePr>
          <p:cNvPr id="19" name="Transit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6120" y="2011680"/>
          <a:ext cx="2697480" cy="914400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</a:rPr>
                        <a:t>Speed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</a:rPr>
                        <a:t>Items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</a:rPr>
                        <a:t>Delayed %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Fast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18,749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1.35%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Normal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34,975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1.17%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Slow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56,235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4"/>
                          </a:solidFill>
                        </a:rPr>
                        <a:t>11.74%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6080760" y="178308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Distance vs delay</a:t>
            </a:r>
            <a:endParaRPr lang="en-US" sz="1000" dirty="0"/>
          </a:p>
        </p:txBody>
      </p:sp>
      <p:graphicFrame>
        <p:nvGraphicFramePr>
          <p:cNvPr id="28" name="Distanc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2011680"/>
          <a:ext cx="2697480" cy="914400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</a:rPr>
                        <a:t>Distance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</a:rPr>
                        <a:t>Items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</a:rPr>
                        <a:t>Delayed %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Near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20,993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4.35%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15,581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4.93%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Far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36,958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6.35%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Very Far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38,564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4"/>
                          </a:solidFill>
                        </a:rPr>
                        <a:t>8.27%</a:t>
                      </a:r>
                      <a:endParaRPr lang="en-US" sz="8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1" name="FindCard"/>
          <p:cNvSpPr/>
          <p:nvPr/>
        </p:nvSpPr>
        <p:spPr>
          <a:xfrm>
            <a:off x="365760" y="3520440"/>
            <a:ext cx="4114800" cy="118872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02920" y="35935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More findings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502920" y="384048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Multi-item orders: avg value 290.44 vs 150.75; avg review 3.55 vs 4.16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Top category: bed_bath_table (11,115 items); 3,095 sellers analysed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Delay correlates with delivery_days (0.60) and transit_days (0.57)</a:t>
            </a:r>
            <a:endParaRPr lang="en-US" sz="900" dirty="0"/>
          </a:p>
        </p:txBody>
      </p:sp>
      <p:sp>
        <p:nvSpPr>
          <p:cNvPr id="24" name="LibCard"/>
          <p:cNvSpPr/>
          <p:nvPr/>
        </p:nvSpPr>
        <p:spPr>
          <a:xfrm>
            <a:off x="4663440" y="3520440"/>
            <a:ext cx="4114800" cy="118872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4800600" y="35935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Libraries and methods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4800600" y="384048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Pandas: groupby, agg, value_counts, describe, merge, pd.cut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NumPy: radians, Haversine distance, inf checks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Matplotlib: charts saved to Visualizations/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All tables above are observed patterns, not causal effects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Data Visualization (Matplotlib)</a:t>
            </a:r>
            <a:endParaRPr lang="en-US" sz="2400" dirty="0"/>
          </a:p>
        </p:txBody>
      </p:sp>
      <p:sp>
        <p:nvSpPr>
          <p:cNvPr id="3" name="Chart0"/>
          <p:cNvSpPr/>
          <p:nvPr/>
        </p:nvSpPr>
        <p:spPr>
          <a:xfrm>
            <a:off x="365760" y="896112"/>
            <a:ext cx="4160520" cy="1892808"/>
          </a:xfrm>
          <a:prstGeom prst="roundRect">
            <a:avLst>
              <a:gd name="adj" fmla="val 2899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75488" y="9509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Order Status Distribution</a:t>
            </a:r>
            <a:endParaRPr lang="en-US" sz="1050" dirty="0"/>
          </a:p>
        </p:txBody>
      </p:sp>
      <p:pic>
        <p:nvPicPr>
          <p:cNvPr id="5" name="Img0" descr="Order Status Distribu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316769"/>
            <a:ext cx="2286000" cy="1289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880360" y="1225296"/>
            <a:ext cx="15727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chemeClr val="tx2"/>
                </a:solidFill>
              </a:rPr>
              <a:t>Purpose: </a:t>
            </a:r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chemeClr val="tx1"/>
                </a:solidFill>
              </a:rPr>
              <a:t>See the order fulfilment mix.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chemeClr val="tx2"/>
                </a:solidFill>
              </a:rPr>
              <a:t>Shows: </a:t>
            </a:r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chemeClr val="tx1"/>
                </a:solidFill>
              </a:rPr>
              <a:t>Order items by status.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chemeClr val="accent4"/>
                </a:solidFill>
              </a:rPr>
              <a:t>Insight: </a:t>
            </a:r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chemeClr val="tx1"/>
                </a:solidFill>
              </a:rPr>
              <a:t>Delivered items dominate (97.82%); other statuses are tiny.</a:t>
            </a:r>
            <a:endParaRPr lang="en-US" sz="850" dirty="0"/>
          </a:p>
        </p:txBody>
      </p:sp>
      <p:sp>
        <p:nvSpPr>
          <p:cNvPr id="7" name="Chart1"/>
          <p:cNvSpPr/>
          <p:nvPr/>
        </p:nvSpPr>
        <p:spPr>
          <a:xfrm>
            <a:off x="4617720" y="896112"/>
            <a:ext cx="4160520" cy="1892808"/>
          </a:xfrm>
          <a:prstGeom prst="roundRect">
            <a:avLst>
              <a:gd name="adj" fmla="val 2899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727448" y="9509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Actual vs Estimated Delivery Time</a:t>
            </a:r>
            <a:endParaRPr lang="en-US" sz="1050" dirty="0"/>
          </a:p>
        </p:txBody>
      </p:sp>
      <p:pic>
        <p:nvPicPr>
          <p:cNvPr id="9" name="Img1" descr="Actual vs Estimated Delivery Tim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1396984"/>
            <a:ext cx="2286000" cy="11288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132320" y="1225296"/>
            <a:ext cx="15727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chemeClr val="tx2"/>
                </a:solidFill>
              </a:rPr>
              <a:t>Purpose: </a:t>
            </a:r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chemeClr val="tx1"/>
                </a:solidFill>
              </a:rPr>
              <a:t>Compare promised and real delivery speed.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chemeClr val="tx2"/>
                </a:solidFill>
              </a:rPr>
              <a:t>Shows: </a:t>
            </a:r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chemeClr val="tx1"/>
                </a:solidFill>
              </a:rPr>
              <a:t>Average days by purchase month.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chemeClr val="accent4"/>
                </a:solidFill>
              </a:rPr>
              <a:t>Insight: </a:t>
            </a:r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chemeClr val="tx1"/>
                </a:solidFill>
              </a:rPr>
              <a:t>From late 2016, actual delivery stays below the estimate.</a:t>
            </a:r>
            <a:endParaRPr lang="en-US" sz="850" dirty="0"/>
          </a:p>
        </p:txBody>
      </p:sp>
      <p:sp>
        <p:nvSpPr>
          <p:cNvPr id="11" name="Chart2"/>
          <p:cNvSpPr/>
          <p:nvPr/>
        </p:nvSpPr>
        <p:spPr>
          <a:xfrm>
            <a:off x="365760" y="2862072"/>
            <a:ext cx="4160520" cy="1892808"/>
          </a:xfrm>
          <a:prstGeom prst="roundRect">
            <a:avLst>
              <a:gd name="adj" fmla="val 2899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" y="29169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Top 15 Product Categories</a:t>
            </a:r>
            <a:endParaRPr lang="en-US" sz="1050" dirty="0"/>
          </a:p>
        </p:txBody>
      </p:sp>
      <p:pic>
        <p:nvPicPr>
          <p:cNvPr id="13" name="Img2" descr="Top 15 Product Categori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212291"/>
            <a:ext cx="2286000" cy="143011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880360" y="3191256"/>
            <a:ext cx="15727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chemeClr val="tx2"/>
                </a:solidFill>
              </a:rPr>
              <a:t>Purpose: </a:t>
            </a:r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chemeClr val="tx1"/>
                </a:solidFill>
              </a:rPr>
              <a:t>Find the highest-volume categories.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chemeClr val="tx2"/>
                </a:solidFill>
              </a:rPr>
              <a:t>Shows: </a:t>
            </a:r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chemeClr val="tx1"/>
                </a:solidFill>
              </a:rPr>
              <a:t>Order items per category.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chemeClr val="accent4"/>
                </a:solidFill>
              </a:rPr>
              <a:t>Insight: </a:t>
            </a:r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chemeClr val="tx1"/>
                </a:solidFill>
              </a:rPr>
              <a:t>bed_bath_table leads (11,115), then health_beauty and sports_leisure.</a:t>
            </a:r>
            <a:endParaRPr lang="en-US" sz="850" dirty="0"/>
          </a:p>
        </p:txBody>
      </p:sp>
      <p:sp>
        <p:nvSpPr>
          <p:cNvPr id="15" name="Chart3"/>
          <p:cNvSpPr/>
          <p:nvPr/>
        </p:nvSpPr>
        <p:spPr>
          <a:xfrm>
            <a:off x="4617720" y="2862072"/>
            <a:ext cx="4160520" cy="1892808"/>
          </a:xfrm>
          <a:prstGeom prst="roundRect">
            <a:avLst>
              <a:gd name="adj" fmla="val 2899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727448" y="29169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Correlation Matrix</a:t>
            </a:r>
            <a:endParaRPr lang="en-US" sz="1050" dirty="0"/>
          </a:p>
        </p:txBody>
      </p:sp>
      <p:pic>
        <p:nvPicPr>
          <p:cNvPr id="17" name="Img3" descr="Correlation Matrix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3186684"/>
            <a:ext cx="2030541" cy="148132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132320" y="3191256"/>
            <a:ext cx="15727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chemeClr val="tx2"/>
                </a:solidFill>
              </a:rPr>
              <a:t>Purpose: </a:t>
            </a:r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chemeClr val="tx1"/>
                </a:solidFill>
              </a:rPr>
              <a:t>Spot related numeric features.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chemeClr val="tx2"/>
                </a:solidFill>
              </a:rPr>
              <a:t>Shows: </a:t>
            </a:r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chemeClr val="tx1"/>
                </a:solidFill>
              </a:rPr>
              <a:t>Heatmap of 15 features.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chemeClr val="accent4"/>
                </a:solidFill>
              </a:rPr>
              <a:t>Insight: </a:t>
            </a:r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chemeClr val="tx1"/>
                </a:solidFill>
              </a:rPr>
              <a:t>Delay links to delivery and transit days; review score falls as delivery days rise. Not causal.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Key Insights &amp; Recommendations</a:t>
            </a:r>
            <a:endParaRPr lang="en-US" sz="2400" dirty="0"/>
          </a:p>
        </p:txBody>
      </p:sp>
      <p:sp>
        <p:nvSpPr>
          <p:cNvPr id="3" name="InsightCard"/>
          <p:cNvSpPr/>
          <p:nvPr/>
        </p:nvSpPr>
        <p:spPr>
          <a:xfrm>
            <a:off x="365760" y="914400"/>
            <a:ext cx="4480560" cy="3794760"/>
          </a:xfrm>
          <a:prstGeom prst="roundRect">
            <a:avLst>
              <a:gd name="adj" fmla="val 1446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0058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Key insights (from the data)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4206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Delivered orders make up 97.82% of 112,650 order items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92.09% arrived early; 7,265 items (6.59%) were late, by 10.49 days on average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Low review groups had 24.84% delayed items vs 1.85% for excellent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Slow transit showed 11.74% delay vs 1.35% (Fast) and 1.17% (Normal)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Very Far shipments: 8.27% delayed vs 4.35% for Near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16.82% of items have freight at least 50% of price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Multi-item orders: higher value (290.44), lower reviews (3.55)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NCH: 53.39% of 397,333 grievances are return-related</a:t>
            </a:r>
            <a:endParaRPr lang="en-US" sz="1150" dirty="0"/>
          </a:p>
        </p:txBody>
      </p:sp>
      <p:sp>
        <p:nvSpPr>
          <p:cNvPr id="6" name="RecCard"/>
          <p:cNvSpPr/>
          <p:nvPr/>
        </p:nvSpPr>
        <p:spPr>
          <a:xfrm>
            <a:off x="5029200" y="914400"/>
            <a:ext cx="3749040" cy="3794760"/>
          </a:xfrm>
          <a:prstGeom prst="roundRect">
            <a:avLst>
              <a:gd name="adj" fmla="val 1463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66360" y="10058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Recommendations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166360" y="1298448"/>
            <a:ext cx="3474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Monitor late and slow-transit shipments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Investigate long-distance routes and high-delay categories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Judge sellers only with enough order volume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Review low-rated categories and sellers with their delivery patterns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Use NCH categories to guide root-cause checks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Use these EDA findings to choose ML features and targets carefully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Conclusion</a:t>
            </a:r>
            <a:endParaRPr lang="en-US" sz="2400" dirty="0"/>
          </a:p>
        </p:txBody>
      </p:sp>
      <p:sp>
        <p:nvSpPr>
          <p:cNvPr id="3" name="Concl0"/>
          <p:cNvSpPr/>
          <p:nvPr/>
        </p:nvSpPr>
        <p:spPr>
          <a:xfrm>
            <a:off x="365760" y="960120"/>
            <a:ext cx="4160520" cy="178308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73152" cy="17830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051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What was achieved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417320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Loaded and validated 3 datasets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Cleaned and integrated Olist into 112,650 x 71 features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Completed EDA with 4 Matplotlib chart sets</a:t>
            </a:r>
            <a:endParaRPr lang="en-US" sz="1250" dirty="0"/>
          </a:p>
        </p:txBody>
      </p:sp>
      <p:sp>
        <p:nvSpPr>
          <p:cNvPr id="7" name="Concl1"/>
          <p:cNvSpPr/>
          <p:nvPr/>
        </p:nvSpPr>
        <p:spPr>
          <a:xfrm>
            <a:off x="4617720" y="960120"/>
            <a:ext cx="4160520" cy="178308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17720" y="960120"/>
            <a:ext cx="73152" cy="17830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051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Major findings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417320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Delays are rare (6.59%) but concentrated in slow-transit and far shipments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Late deliveries go with low reviews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Return-related complaints are over half of NCH grievances</a:t>
            </a:r>
            <a:endParaRPr lang="en-US" sz="1250" dirty="0"/>
          </a:p>
        </p:txBody>
      </p:sp>
      <p:sp>
        <p:nvSpPr>
          <p:cNvPr id="11" name="Concl2"/>
          <p:cNvSpPr/>
          <p:nvPr/>
        </p:nvSpPr>
        <p:spPr>
          <a:xfrm>
            <a:off x="365760" y="2834640"/>
            <a:ext cx="4160520" cy="178308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834640"/>
            <a:ext cx="73152" cy="17830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926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How it helps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291840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Shows where to look first: transit, distance, categories, sellers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Separates observed patterns from causes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Gives investigators evidence-based starting points</a:t>
            </a:r>
            <a:endParaRPr lang="en-US" sz="1250" dirty="0"/>
          </a:p>
        </p:txBody>
      </p:sp>
      <p:sp>
        <p:nvSpPr>
          <p:cNvPr id="15" name="Concl3"/>
          <p:cNvSpPr/>
          <p:nvPr/>
        </p:nvSpPr>
        <p:spPr>
          <a:xfrm>
            <a:off x="4617720" y="2834640"/>
            <a:ext cx="4160520" cy="178308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2834640"/>
            <a:ext cx="73152" cy="17830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926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Future scope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291840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Define ML targets from valid labels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Build a root-cause model and seller risk view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Add the admin dashboard and review-text analysis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urnIQ">
  <a:themeElements>
    <a:clrScheme name="ReturnIQ">
      <a:dk1>
        <a:srgbClr val="1F2937"/>
      </a:dk1>
      <a:lt1>
        <a:srgbClr val="FFFFFF"/>
      </a:lt1>
      <a:dk2>
        <a:srgbClr val="0B2545"/>
      </a:dk2>
      <a:lt2>
        <a:srgbClr val="F3F6FA"/>
      </a:lt2>
      <a:accent1>
        <a:srgbClr val="13A89E"/>
      </a:accent1>
      <a:accent2>
        <a:srgbClr val="F4A259"/>
      </a:accent2>
      <a:accent3>
        <a:srgbClr val="3E7CB1"/>
      </a:accent3>
      <a:accent4>
        <a:srgbClr val="E4572E"/>
      </a:accent4>
      <a:accent5>
        <a:srgbClr val="64748B"/>
      </a:accent5>
      <a:accent6>
        <a:srgbClr val="8FB8DE"/>
      </a:accent6>
      <a:hlink>
        <a:srgbClr val="3E7CB1"/>
      </a:hlink>
      <a:folHlink>
        <a:srgbClr val="64748B"/>
      </a:folHlink>
    </a:clrScheme>
    <a:fontScheme name="ReturnIQ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ReturnIQ – Sprint-1 (EDA)</dc:title>
  <dc:subject>PptxGenJS Presentation</dc:subject>
  <dc:creator>Nivetha M</dc:creator>
  <cp:lastModifiedBy>Nivetha M</cp:lastModifiedBy>
  <cp:revision>1</cp:revision>
  <dcterms:created xsi:type="dcterms:W3CDTF">2026-10-07T03:08:49Z</dcterms:created>
  <dcterms:modified xsi:type="dcterms:W3CDTF">2026-10-07T03:08:49Z</dcterms:modified>
</cp:coreProperties>
</file>